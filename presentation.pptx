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10287000" cx="18288000"/>
  <p:notesSz cx="6858000" cy="9144000"/>
  <p:embeddedFontLst>
    <p:embeddedFont>
      <p:font typeface="Roboto"/>
      <p:regular r:id="rId26"/>
      <p:bold r:id="rId27"/>
      <p:italic r:id="rId28"/>
      <p:boldItalic r:id="rId29"/>
    </p:embeddedFon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gKwh5gRqp7s7oyFLz0vXuhntab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regular.fntdata"/><Relationship Id="rId25" Type="http://schemas.openxmlformats.org/officeDocument/2006/relationships/slide" Target="slides/slide20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c6303fe4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ec6303fe4b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c6303fe4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ec6303fe4b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c6303fe4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ec6303fe4b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c6303fe4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ec6303fe4b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c6303fe4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ec6303fe4b_0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c6303fe4b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ec6303fe4b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c6303fe4b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ec6303fe4b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c6303fe4b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ec6303fe4b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c6303fe4b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ec6303fe4b_0_1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c6303fe4b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ec6303fe4b_0_1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c6303fe4b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ec6303fe4b_0_1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c6303fe4b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ec6303fe4b_0_1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c6303fe4b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ec6303fe4b_0_2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c6303fe4b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ec6303fe4b_0_2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ec6303fe4b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ec6303fe4b_0_2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c6303fe4b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ec6303fe4b_0_2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c6303fe4b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ec6303fe4b_0_2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23.png"/><Relationship Id="rId8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21.png"/><Relationship Id="rId6" Type="http://schemas.openxmlformats.org/officeDocument/2006/relationships/image" Target="../media/image16.png"/><Relationship Id="rId7" Type="http://schemas.openxmlformats.org/officeDocument/2006/relationships/image" Target="../media/image22.png"/><Relationship Id="rId8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jp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1028700" y="884039"/>
            <a:ext cx="16230600" cy="8374261"/>
            <a:chOff x="0" y="-38100"/>
            <a:chExt cx="4274726" cy="2205567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69803"/>
              </a:srgbClr>
            </a:solidFill>
            <a:ln cap="sq" cmpd="sng" w="123825">
              <a:solidFill>
                <a:srgbClr val="000000">
                  <a:alpha val="69803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87" name="Google Shape;87;p1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 rot="5400000">
            <a:off x="8944306" y="5180427"/>
            <a:ext cx="399388" cy="8135684"/>
          </a:xfrm>
          <a:custGeom>
            <a:rect b="b" l="l" r="r" t="t"/>
            <a:pathLst>
              <a:path extrusionOk="0" h="8135684" w="399388">
                <a:moveTo>
                  <a:pt x="0" y="0"/>
                </a:moveTo>
                <a:lnTo>
                  <a:pt x="399388" y="0"/>
                </a:lnTo>
                <a:lnTo>
                  <a:pt x="399388" y="8135683"/>
                </a:lnTo>
                <a:lnTo>
                  <a:pt x="0" y="81356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5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 rot="10800000">
            <a:off x="-895973" y="-128681"/>
            <a:ext cx="3775893" cy="3604261"/>
          </a:xfrm>
          <a:custGeom>
            <a:rect b="b" l="l" r="r" t="t"/>
            <a:pathLst>
              <a:path extrusionOk="0" h="3604261" w="3775893">
                <a:moveTo>
                  <a:pt x="0" y="0"/>
                </a:moveTo>
                <a:lnTo>
                  <a:pt x="3775893" y="0"/>
                </a:lnTo>
                <a:lnTo>
                  <a:pt x="3775893" y="3604262"/>
                </a:lnTo>
                <a:lnTo>
                  <a:pt x="0" y="3604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 rot="10800000">
            <a:off x="15576737" y="7107131"/>
            <a:ext cx="3775893" cy="3604261"/>
          </a:xfrm>
          <a:custGeom>
            <a:rect b="b" l="l" r="r" t="t"/>
            <a:pathLst>
              <a:path extrusionOk="0" h="3604261" w="3775893">
                <a:moveTo>
                  <a:pt x="0" y="0"/>
                </a:moveTo>
                <a:lnTo>
                  <a:pt x="3775893" y="0"/>
                </a:lnTo>
                <a:lnTo>
                  <a:pt x="3775893" y="3604261"/>
                </a:lnTo>
                <a:lnTo>
                  <a:pt x="0" y="36042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 txBox="1"/>
          <p:nvPr/>
        </p:nvSpPr>
        <p:spPr>
          <a:xfrm>
            <a:off x="1860477" y="3178563"/>
            <a:ext cx="14567046" cy="1634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27" u="none" cap="none" strike="noStrike">
                <a:solidFill>
                  <a:srgbClr val="348BFF"/>
                </a:solidFill>
                <a:latin typeface="Arial"/>
                <a:ea typeface="Arial"/>
                <a:cs typeface="Arial"/>
                <a:sym typeface="Arial"/>
              </a:rPr>
              <a:t>SPAM DETECTION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4654845" y="4717734"/>
            <a:ext cx="8978311" cy="7562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50" u="none" cap="none" strike="noStrike">
                <a:solidFill>
                  <a:srgbClr val="348BFF"/>
                </a:solidFill>
                <a:latin typeface="Arial"/>
                <a:ea typeface="Arial"/>
                <a:cs typeface="Arial"/>
                <a:sym typeface="Arial"/>
              </a:rPr>
              <a:t>sms spam detector 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1860477" y="6740841"/>
            <a:ext cx="14567046" cy="523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48BFF"/>
                </a:solidFill>
                <a:latin typeface="Arial"/>
                <a:ea typeface="Arial"/>
                <a:cs typeface="Arial"/>
                <a:sym typeface="Arial"/>
              </a:rPr>
              <a:t>WAHYU PRATAMA (230411100058)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9" name="Google Shape;99;p2"/>
          <p:cNvGrpSpPr/>
          <p:nvPr/>
        </p:nvGrpSpPr>
        <p:grpSpPr>
          <a:xfrm>
            <a:off x="0" y="-144661"/>
            <a:ext cx="18288000" cy="10254188"/>
            <a:chOff x="0" y="-38100"/>
            <a:chExt cx="4816593" cy="2700692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4816592" cy="2662592"/>
            </a:xfrm>
            <a:custGeom>
              <a:rect b="b" l="l" r="r" t="t"/>
              <a:pathLst>
                <a:path extrusionOk="0" h="266259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3"/>
              </a:srgbClr>
            </a:solidFill>
            <a:ln cap="sq" cmpd="sng" w="123825">
              <a:solidFill>
                <a:srgbClr val="000000">
                  <a:alpha val="69803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1" name="Google Shape;101;p2"/>
            <p:cNvSpPr txBox="1"/>
            <p:nvPr/>
          </p:nvSpPr>
          <p:spPr>
            <a:xfrm>
              <a:off x="0" y="-38100"/>
              <a:ext cx="4816593" cy="2700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2"/>
          <p:cNvSpPr/>
          <p:nvPr/>
        </p:nvSpPr>
        <p:spPr>
          <a:xfrm rot="7761">
            <a:off x="-724606" y="8954135"/>
            <a:ext cx="2702689" cy="2579840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 rot="7761">
            <a:off x="16612207" y="-936064"/>
            <a:ext cx="2702689" cy="2579840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2"/>
          <p:cNvSpPr txBox="1"/>
          <p:nvPr/>
        </p:nvSpPr>
        <p:spPr>
          <a:xfrm>
            <a:off x="1178725" y="2551550"/>
            <a:ext cx="160806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Latar Belakang:</a:t>
            </a:r>
            <a:endParaRPr b="1" sz="19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SMS spam mengganggu privasi dan berisiko memunculkan kejahatan siber (penipuan/phishing). Karakteristik teks pendek dan tidak terstruktur memerlukan otomasi filter berbasis NLP.</a:t>
            </a:r>
            <a:endParaRPr sz="17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Korelasi Paper Rujukan: </a:t>
            </a:r>
            <a:endParaRPr b="1" sz="19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Proyek ini mengadopsi ide dari paper ExplainableDetector (arXiv:2405.08026) yang menekankan pentingnya deteksi spam sekaligus interpretasi transparan terhadap kata pemicu spam.</a:t>
            </a:r>
            <a:endParaRPr sz="1700"/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Tujuan Proyek Akhir: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028700" y="627452"/>
            <a:ext cx="16230600" cy="149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65" u="none" cap="none" strike="noStrike">
                <a:solidFill>
                  <a:srgbClr val="348BFF"/>
                </a:solidFill>
                <a:latin typeface="Arial"/>
                <a:ea typeface="Arial"/>
                <a:cs typeface="Arial"/>
                <a:sym typeface="Arial"/>
              </a:rPr>
              <a:t>PENGENALAN PROJECT</a:t>
            </a:r>
            <a:endParaRPr/>
          </a:p>
          <a:p>
            <a:pPr indent="0" lvl="0" marL="0" marR="0" rtl="0" algn="ctr">
              <a:lnSpc>
                <a:spcPct val="10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65" u="none" cap="none" strike="noStrike">
                <a:solidFill>
                  <a:srgbClr val="348BFF"/>
                </a:solidFill>
                <a:latin typeface="Arial"/>
                <a:ea typeface="Arial"/>
                <a:cs typeface="Arial"/>
                <a:sym typeface="Arial"/>
              </a:rPr>
              <a:t>&amp; RUJUKAN PAPER</a:t>
            </a:r>
            <a:endParaRPr/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5">
            <a:alphaModFix/>
          </a:blip>
          <a:srcRect b="5690" l="0" r="0" t="18137"/>
          <a:stretch/>
        </p:blipFill>
        <p:spPr>
          <a:xfrm>
            <a:off x="8988475" y="5959828"/>
            <a:ext cx="8270850" cy="354205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 txBox="1"/>
          <p:nvPr/>
        </p:nvSpPr>
        <p:spPr>
          <a:xfrm>
            <a:off x="1384099" y="5918147"/>
            <a:ext cx="7295700" cy="28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boto"/>
              <a:buAutoNum type="arabicPeriod"/>
            </a:pPr>
            <a:r>
              <a:rPr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Membangun platform deteksi spam real-time dan massal berbasis framework Streamlit.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boto"/>
              <a:buAutoNum type="arabicPeriod"/>
            </a:pPr>
            <a:r>
              <a:rPr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Melatih dan membandingkan efisiensi performa 4 algoritma Machine Learning.</a:t>
            </a:r>
            <a:endParaRPr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c6303fe4b_0_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3" name="Google Shape;113;g3ec6303fe4b_0_3"/>
          <p:cNvGrpSpPr/>
          <p:nvPr/>
        </p:nvGrpSpPr>
        <p:grpSpPr>
          <a:xfrm>
            <a:off x="0" y="-144662"/>
            <a:ext cx="18288118" cy="10254257"/>
            <a:chOff x="0" y="-38100"/>
            <a:chExt cx="4816592" cy="2700692"/>
          </a:xfrm>
        </p:grpSpPr>
        <p:sp>
          <p:nvSpPr>
            <p:cNvPr id="114" name="Google Shape;114;g3ec6303fe4b_0_3"/>
            <p:cNvSpPr/>
            <p:nvPr/>
          </p:nvSpPr>
          <p:spPr>
            <a:xfrm>
              <a:off x="0" y="0"/>
              <a:ext cx="4816592" cy="2662592"/>
            </a:xfrm>
            <a:custGeom>
              <a:rect b="b" l="l" r="r" t="t"/>
              <a:pathLst>
                <a:path extrusionOk="0" h="266259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0"/>
              </a:srgbClr>
            </a:solidFill>
            <a:ln cap="sq" cmpd="sng" w="123825">
              <a:solidFill>
                <a:srgbClr val="000000">
                  <a:alpha val="6980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15" name="Google Shape;115;g3ec6303fe4b_0_3"/>
            <p:cNvSpPr txBox="1"/>
            <p:nvPr/>
          </p:nvSpPr>
          <p:spPr>
            <a:xfrm>
              <a:off x="0" y="-38100"/>
              <a:ext cx="4816500" cy="27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g3ec6303fe4b_0_3"/>
          <p:cNvSpPr/>
          <p:nvPr/>
        </p:nvSpPr>
        <p:spPr>
          <a:xfrm rot="8594">
            <a:off x="-724919" y="8954462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g3ec6303fe4b_0_3"/>
          <p:cNvSpPr/>
          <p:nvPr/>
        </p:nvSpPr>
        <p:spPr>
          <a:xfrm rot="8594">
            <a:off x="16611894" y="-935737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g3ec6303fe4b_0_3"/>
          <p:cNvSpPr txBox="1"/>
          <p:nvPr/>
        </p:nvSpPr>
        <p:spPr>
          <a:xfrm>
            <a:off x="1178725" y="2605128"/>
            <a:ext cx="16080600" cy="78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Kebutuhan Perangkat Lunak:</a:t>
            </a:r>
            <a:r>
              <a:rPr lang="en-US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Python 3.9+, Visual Studio Code, Terminal/CMD, Web Browser.</a:t>
            </a:r>
            <a:endParaRPr sz="2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Struktur Folder Project:</a:t>
            </a:r>
            <a:endParaRPr b="1" sz="2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📂 230411100058-tugas-UAS/</a:t>
            </a:r>
            <a:endParaRPr b="1" sz="2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├── 📂 dataset/ ── spam.csv</a:t>
            </a:r>
            <a:endParaRPr b="1" sz="2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├── 📂 models/ ── [berkas model biner .joblib]</a:t>
            </a:r>
            <a:endParaRPr b="1" sz="2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├── 📂 reports/ ── model_comparison.csv</a:t>
            </a:r>
            <a:endParaRPr b="1" sz="2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├── 📄 app_streamlit.py (Aplikasi UI)</a:t>
            </a:r>
            <a:endParaRPr b="1" sz="2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├── 📄 train_models.py (Skrip Pelatihan)</a:t>
            </a:r>
            <a:endParaRPr b="1" sz="2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└── 📄 requirements.txt (Daftar Pustaka Pihak Ketiga)</a:t>
            </a:r>
            <a:endParaRPr b="1" sz="2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Langkah Eksekusi Dependensi: </a:t>
            </a:r>
            <a:endParaRPr sz="2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pip install -r requirements.txt</a:t>
            </a:r>
            <a:endParaRPr sz="2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g3ec6303fe4b_0_3"/>
          <p:cNvSpPr txBox="1"/>
          <p:nvPr/>
        </p:nvSpPr>
        <p:spPr>
          <a:xfrm>
            <a:off x="1028700" y="627452"/>
            <a:ext cx="16230600" cy="1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65">
                <a:solidFill>
                  <a:srgbClr val="348BFF"/>
                </a:solidFill>
              </a:rPr>
              <a:t>INSTALASI, STRUKTUR REPOSITORI,</a:t>
            </a:r>
            <a:endParaRPr sz="5465">
              <a:solidFill>
                <a:srgbClr val="348BFF"/>
              </a:solidFill>
            </a:endParaRPr>
          </a:p>
          <a:p>
            <a:pPr indent="0" lvl="0" marL="0" marR="0" rtl="0" algn="ctr">
              <a:lnSpc>
                <a:spcPct val="10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65">
                <a:solidFill>
                  <a:srgbClr val="348BFF"/>
                </a:solidFill>
              </a:rPr>
              <a:t>&amp; ENVIRONMENT </a:t>
            </a:r>
            <a:endParaRPr/>
          </a:p>
        </p:txBody>
      </p:sp>
      <p:pic>
        <p:nvPicPr>
          <p:cNvPr id="120" name="Google Shape;120;g3ec6303fe4b_0_3"/>
          <p:cNvPicPr preferRelativeResize="0"/>
          <p:nvPr/>
        </p:nvPicPr>
        <p:blipFill rotWithShape="1">
          <a:blip r:embed="rId5">
            <a:alphaModFix/>
          </a:blip>
          <a:srcRect b="58448" l="23372" r="57273" t="14143"/>
          <a:stretch/>
        </p:blipFill>
        <p:spPr>
          <a:xfrm>
            <a:off x="10956175" y="3964775"/>
            <a:ext cx="5652501" cy="450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c6303fe4b_0_2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6" name="Google Shape;126;g3ec6303fe4b_0_27"/>
          <p:cNvGrpSpPr/>
          <p:nvPr/>
        </p:nvGrpSpPr>
        <p:grpSpPr>
          <a:xfrm>
            <a:off x="0" y="-144662"/>
            <a:ext cx="18288118" cy="10254257"/>
            <a:chOff x="0" y="-38100"/>
            <a:chExt cx="4816592" cy="2700692"/>
          </a:xfrm>
        </p:grpSpPr>
        <p:sp>
          <p:nvSpPr>
            <p:cNvPr id="127" name="Google Shape;127;g3ec6303fe4b_0_27"/>
            <p:cNvSpPr/>
            <p:nvPr/>
          </p:nvSpPr>
          <p:spPr>
            <a:xfrm>
              <a:off x="0" y="0"/>
              <a:ext cx="4816592" cy="2662592"/>
            </a:xfrm>
            <a:custGeom>
              <a:rect b="b" l="l" r="r" t="t"/>
              <a:pathLst>
                <a:path extrusionOk="0" h="266259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0"/>
              </a:srgbClr>
            </a:solidFill>
            <a:ln cap="sq" cmpd="sng" w="123825">
              <a:solidFill>
                <a:srgbClr val="000000">
                  <a:alpha val="6980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28" name="Google Shape;128;g3ec6303fe4b_0_27"/>
            <p:cNvSpPr txBox="1"/>
            <p:nvPr/>
          </p:nvSpPr>
          <p:spPr>
            <a:xfrm>
              <a:off x="0" y="-38100"/>
              <a:ext cx="4816500" cy="27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" name="Google Shape;129;g3ec6303fe4b_0_27"/>
          <p:cNvSpPr/>
          <p:nvPr/>
        </p:nvSpPr>
        <p:spPr>
          <a:xfrm rot="8594">
            <a:off x="-724919" y="8954462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g3ec6303fe4b_0_27"/>
          <p:cNvSpPr/>
          <p:nvPr/>
        </p:nvSpPr>
        <p:spPr>
          <a:xfrm rot="8594">
            <a:off x="16611894" y="-935737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g3ec6303fe4b_0_27"/>
          <p:cNvSpPr txBox="1"/>
          <p:nvPr/>
        </p:nvSpPr>
        <p:spPr>
          <a:xfrm>
            <a:off x="1103775" y="1549020"/>
            <a:ext cx="160806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600">
                <a:solidFill>
                  <a:schemeClr val="lt1"/>
                </a:solidFill>
              </a:rPr>
              <a:t>Identitas Data:</a:t>
            </a:r>
            <a:r>
              <a:rPr lang="en-US" sz="2600">
                <a:solidFill>
                  <a:schemeClr val="lt1"/>
                </a:solidFill>
              </a:rPr>
              <a:t> </a:t>
            </a:r>
            <a:r>
              <a:rPr i="1" lang="en-US" sz="2600">
                <a:solidFill>
                  <a:schemeClr val="lt1"/>
                </a:solidFill>
              </a:rPr>
              <a:t>SMS Spam Collection Dataset</a:t>
            </a:r>
            <a:r>
              <a:rPr lang="en-US" sz="2600">
                <a:solidFill>
                  <a:schemeClr val="lt1"/>
                </a:solidFill>
              </a:rPr>
              <a:t> (Sumber: UCI Machine Learning Repository).</a:t>
            </a:r>
            <a:endParaRPr sz="2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600">
                <a:solidFill>
                  <a:schemeClr val="lt1"/>
                </a:solidFill>
              </a:rPr>
              <a:t>Karakteristik Data:</a:t>
            </a:r>
            <a:r>
              <a:rPr lang="en-US" sz="2600">
                <a:solidFill>
                  <a:schemeClr val="lt1"/>
                </a:solidFill>
              </a:rPr>
              <a:t> Total 5.572 baris pesan dengan struktur dua kolom: </a:t>
            </a:r>
            <a:r>
              <a:rPr lang="en-US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v1</a:t>
            </a:r>
            <a:r>
              <a:rPr lang="en-US" sz="2600">
                <a:solidFill>
                  <a:schemeClr val="lt1"/>
                </a:solidFill>
              </a:rPr>
              <a:t> (label target: ham/spam) dan </a:t>
            </a:r>
            <a:r>
              <a:rPr lang="en-US" sz="2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v2</a:t>
            </a:r>
            <a:r>
              <a:rPr lang="en-US" sz="2600">
                <a:solidFill>
                  <a:schemeClr val="lt1"/>
                </a:solidFill>
              </a:rPr>
              <a:t> (isi pesan teks mentah).</a:t>
            </a:r>
            <a:endParaRPr sz="2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600">
                <a:solidFill>
                  <a:schemeClr val="lt1"/>
                </a:solidFill>
              </a:rPr>
              <a:t>Analisis Dataset:</a:t>
            </a:r>
            <a:endParaRPr b="1" sz="2600">
              <a:solidFill>
                <a:schemeClr val="lt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</a:pPr>
            <a:r>
              <a:rPr i="1" lang="en-US" sz="2600">
                <a:solidFill>
                  <a:schemeClr val="lt1"/>
                </a:solidFill>
              </a:rPr>
              <a:t>Ham (Pesan Normal):</a:t>
            </a:r>
            <a:r>
              <a:rPr lang="en-US" sz="2600">
                <a:solidFill>
                  <a:schemeClr val="lt1"/>
                </a:solidFill>
              </a:rPr>
              <a:t> 4.825 pesan (86.6%)</a:t>
            </a:r>
            <a:endParaRPr sz="2600">
              <a:solidFill>
                <a:schemeClr val="lt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</a:pPr>
            <a:r>
              <a:rPr i="1" lang="en-US" sz="2600">
                <a:solidFill>
                  <a:schemeClr val="lt1"/>
                </a:solidFill>
              </a:rPr>
              <a:t>Spam (Pesan Gangguan):</a:t>
            </a:r>
            <a:r>
              <a:rPr lang="en-US" sz="2600">
                <a:solidFill>
                  <a:schemeClr val="lt1"/>
                </a:solidFill>
              </a:rPr>
              <a:t> 747 pesan (13.4%)</a:t>
            </a:r>
            <a:endParaRPr sz="2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2600">
                <a:solidFill>
                  <a:schemeClr val="lt1"/>
                </a:solidFill>
              </a:rPr>
              <a:t>Insight Panjang Teks:</a:t>
            </a:r>
            <a:r>
              <a:rPr lang="en-US" sz="2600">
                <a:solidFill>
                  <a:schemeClr val="lt1"/>
                </a:solidFill>
              </a:rPr>
              <a:t> Rata-rata panjang SMS Ham hanya ~71 karakter, sedangkan SMS Spam cenderung jauh lebih panjang yakni ~138 karakter.</a:t>
            </a:r>
            <a:endParaRPr sz="2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g3ec6303fe4b_0_27"/>
          <p:cNvSpPr txBox="1"/>
          <p:nvPr/>
        </p:nvSpPr>
        <p:spPr>
          <a:xfrm>
            <a:off x="1028700" y="573874"/>
            <a:ext cx="162306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65">
                <a:solidFill>
                  <a:srgbClr val="348BFF"/>
                </a:solidFill>
              </a:rPr>
              <a:t>KARAKTERISTIK DATASET </a:t>
            </a:r>
            <a:endParaRPr/>
          </a:p>
        </p:txBody>
      </p:sp>
      <p:pic>
        <p:nvPicPr>
          <p:cNvPr id="133" name="Google Shape;133;g3ec6303fe4b_0_27"/>
          <p:cNvPicPr preferRelativeResize="0"/>
          <p:nvPr/>
        </p:nvPicPr>
        <p:blipFill rotWithShape="1">
          <a:blip r:embed="rId5">
            <a:alphaModFix/>
          </a:blip>
          <a:srcRect b="12648" l="0" r="0" t="29491"/>
          <a:stretch/>
        </p:blipFill>
        <p:spPr>
          <a:xfrm>
            <a:off x="3283725" y="6010928"/>
            <a:ext cx="11720526" cy="3812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c6303fe4b_0_4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9" name="Google Shape;139;g3ec6303fe4b_0_41"/>
          <p:cNvGrpSpPr/>
          <p:nvPr/>
        </p:nvGrpSpPr>
        <p:grpSpPr>
          <a:xfrm>
            <a:off x="0" y="-144662"/>
            <a:ext cx="18288118" cy="10254257"/>
            <a:chOff x="0" y="-38100"/>
            <a:chExt cx="4816592" cy="2700692"/>
          </a:xfrm>
        </p:grpSpPr>
        <p:sp>
          <p:nvSpPr>
            <p:cNvPr id="140" name="Google Shape;140;g3ec6303fe4b_0_41"/>
            <p:cNvSpPr/>
            <p:nvPr/>
          </p:nvSpPr>
          <p:spPr>
            <a:xfrm>
              <a:off x="0" y="0"/>
              <a:ext cx="4816592" cy="2662592"/>
            </a:xfrm>
            <a:custGeom>
              <a:rect b="b" l="l" r="r" t="t"/>
              <a:pathLst>
                <a:path extrusionOk="0" h="266259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0"/>
              </a:srgbClr>
            </a:solidFill>
            <a:ln cap="sq" cmpd="sng" w="123825">
              <a:solidFill>
                <a:srgbClr val="000000">
                  <a:alpha val="6980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41" name="Google Shape;141;g3ec6303fe4b_0_41"/>
            <p:cNvSpPr txBox="1"/>
            <p:nvPr/>
          </p:nvSpPr>
          <p:spPr>
            <a:xfrm>
              <a:off x="0" y="-38100"/>
              <a:ext cx="4816500" cy="27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g3ec6303fe4b_0_41"/>
          <p:cNvSpPr/>
          <p:nvPr/>
        </p:nvSpPr>
        <p:spPr>
          <a:xfrm rot="8594">
            <a:off x="-724919" y="8954462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g3ec6303fe4b_0_41"/>
          <p:cNvSpPr/>
          <p:nvPr/>
        </p:nvSpPr>
        <p:spPr>
          <a:xfrm rot="8594">
            <a:off x="16611894" y="-935737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g3ec6303fe4b_0_41"/>
          <p:cNvSpPr txBox="1"/>
          <p:nvPr/>
        </p:nvSpPr>
        <p:spPr>
          <a:xfrm>
            <a:off x="1178725" y="2605125"/>
            <a:ext cx="9992400" cy="7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Tahapan Pembersihan Data Teks (Fungsi preprocess_text):</a:t>
            </a:r>
            <a:endParaRPr b="1" sz="2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AutoNum type="arabicPeriod"/>
            </a:pPr>
            <a:r>
              <a:rPr b="1"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Lowercasing:</a:t>
            </a:r>
            <a:r>
              <a:rPr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Mengubah seluruh karakter menjadi huruf kecil agar seragam.</a:t>
            </a:r>
            <a:endParaRPr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AutoNum type="arabicPeriod"/>
            </a:pPr>
            <a:r>
              <a:rPr b="1"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Remove Special Characters:</a:t>
            </a:r>
            <a:r>
              <a:rPr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Menghapus simbol, tanda baca, dan menyisakan alfabet/angka memakai ekspresi reguler re.sub('[^a-zA-Z0-9]', ' ', text).</a:t>
            </a:r>
            <a:endParaRPr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AutoNum type="arabicPeriod"/>
            </a:pPr>
            <a:r>
              <a:rPr b="1"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Tokenization:</a:t>
            </a:r>
            <a:r>
              <a:rPr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Memecah string kalimat utuh menjadi komponen kata individual.</a:t>
            </a:r>
            <a:endParaRPr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AutoNum type="arabicPeriod"/>
            </a:pPr>
            <a:r>
              <a:rPr b="1"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Stopwords Removal:</a:t>
            </a:r>
            <a:r>
              <a:rPr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Mengeliminasi kata umum bahasa Inggris (seperti </a:t>
            </a:r>
            <a:r>
              <a:rPr i="1"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the, is, a, of</a:t>
            </a:r>
            <a:r>
              <a:rPr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) menggunakan korpus library NLTK.</a:t>
            </a:r>
            <a:endParaRPr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AutoNum type="arabicPeriod"/>
            </a:pPr>
            <a:r>
              <a:rPr b="1"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Lemmatization:</a:t>
            </a:r>
            <a:r>
              <a:rPr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Mengembalikan kata berimbuhan ke bentuk kata dasar aslinya menggunakan WordNetLemmatizer (</a:t>
            </a:r>
            <a:r>
              <a:rPr i="1"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called/calling</a:t>
            </a:r>
            <a:r>
              <a:rPr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→ </a:t>
            </a:r>
            <a:r>
              <a:rPr i="1"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call</a:t>
            </a:r>
            <a:r>
              <a:rPr lang="en-US" sz="2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g3ec6303fe4b_0_41"/>
          <p:cNvSpPr txBox="1"/>
          <p:nvPr/>
        </p:nvSpPr>
        <p:spPr>
          <a:xfrm>
            <a:off x="1028700" y="627452"/>
            <a:ext cx="162306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65">
                <a:solidFill>
                  <a:srgbClr val="348BFF"/>
                </a:solidFill>
              </a:rPr>
              <a:t>PIPELINE TEXT PREPROCESSING</a:t>
            </a:r>
            <a:endParaRPr sz="5465">
              <a:solidFill>
                <a:srgbClr val="348BFF"/>
              </a:solidFill>
            </a:endParaRPr>
          </a:p>
          <a:p>
            <a:pPr indent="0" lvl="0" marL="0" marR="0" rtl="0" algn="ctr">
              <a:lnSpc>
                <a:spcPct val="10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65">
                <a:solidFill>
                  <a:srgbClr val="348BFF"/>
                </a:solidFill>
              </a:rPr>
              <a:t>(NLP PIPELINE) </a:t>
            </a:r>
            <a:endParaRPr sz="400"/>
          </a:p>
        </p:txBody>
      </p:sp>
      <p:pic>
        <p:nvPicPr>
          <p:cNvPr id="146" name="Google Shape;146;g3ec6303fe4b_0_41"/>
          <p:cNvPicPr preferRelativeResize="0"/>
          <p:nvPr/>
        </p:nvPicPr>
        <p:blipFill rotWithShape="1">
          <a:blip r:embed="rId5">
            <a:alphaModFix/>
          </a:blip>
          <a:srcRect b="30596" l="28104" r="27215" t="28755"/>
          <a:stretch/>
        </p:blipFill>
        <p:spPr>
          <a:xfrm>
            <a:off x="11171125" y="2605125"/>
            <a:ext cx="6690125" cy="342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ec6303fe4b_0_41"/>
          <p:cNvSpPr txBox="1"/>
          <p:nvPr/>
        </p:nvSpPr>
        <p:spPr>
          <a:xfrm>
            <a:off x="11760405" y="6354083"/>
            <a:ext cx="62178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Ekstraksi Fitur Teks: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Mentransformasikan token teks bersih ke representasi numerik menggunakan </a:t>
            </a:r>
            <a:r>
              <a:rPr b="1" lang="en-US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TF-IDF Vectorizer</a:t>
            </a:r>
            <a:r>
              <a:rPr lang="en-US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(TfidfVectorizer).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c6303fe4b_0_6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3" name="Google Shape;153;g3ec6303fe4b_0_61"/>
          <p:cNvGrpSpPr/>
          <p:nvPr/>
        </p:nvGrpSpPr>
        <p:grpSpPr>
          <a:xfrm>
            <a:off x="0" y="-144662"/>
            <a:ext cx="18288118" cy="10254257"/>
            <a:chOff x="0" y="-38100"/>
            <a:chExt cx="4816592" cy="2700692"/>
          </a:xfrm>
        </p:grpSpPr>
        <p:sp>
          <p:nvSpPr>
            <p:cNvPr id="154" name="Google Shape;154;g3ec6303fe4b_0_61"/>
            <p:cNvSpPr/>
            <p:nvPr/>
          </p:nvSpPr>
          <p:spPr>
            <a:xfrm>
              <a:off x="0" y="0"/>
              <a:ext cx="4816592" cy="2662592"/>
            </a:xfrm>
            <a:custGeom>
              <a:rect b="b" l="l" r="r" t="t"/>
              <a:pathLst>
                <a:path extrusionOk="0" h="266259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0"/>
              </a:srgbClr>
            </a:solidFill>
            <a:ln cap="sq" cmpd="sng" w="123825">
              <a:solidFill>
                <a:srgbClr val="000000">
                  <a:alpha val="6980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55" name="Google Shape;155;g3ec6303fe4b_0_61"/>
            <p:cNvSpPr txBox="1"/>
            <p:nvPr/>
          </p:nvSpPr>
          <p:spPr>
            <a:xfrm>
              <a:off x="0" y="-38100"/>
              <a:ext cx="4816500" cy="27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g3ec6303fe4b_0_61"/>
          <p:cNvSpPr/>
          <p:nvPr/>
        </p:nvSpPr>
        <p:spPr>
          <a:xfrm rot="8594">
            <a:off x="-724919" y="8954462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g3ec6303fe4b_0_61"/>
          <p:cNvSpPr/>
          <p:nvPr/>
        </p:nvSpPr>
        <p:spPr>
          <a:xfrm rot="8594">
            <a:off x="16611894" y="-935737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g3ec6303fe4b_0_61"/>
          <p:cNvSpPr txBox="1"/>
          <p:nvPr/>
        </p:nvSpPr>
        <p:spPr>
          <a:xfrm>
            <a:off x="1028700" y="1727842"/>
            <a:ext cx="10356600" cy="79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00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"/>
              <a:buAutoNum type="arabicPeriod"/>
            </a:pPr>
            <a:r>
              <a:rPr b="1" lang="en-US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Logistic Regression:</a:t>
            </a:r>
            <a:endParaRPr sz="2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Model klasifikasi linear berbasis perhitungan fungsi logistik (sigmoid). Berperan sebagai baseline model yang sangat cepat.</a:t>
            </a:r>
            <a:endParaRPr sz="2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"/>
              <a:buAutoNum type="arabicPeriod"/>
            </a:pPr>
            <a:r>
              <a:rPr b="1" lang="en-US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Support Vector Machine (Linear SVM):</a:t>
            </a:r>
            <a:r>
              <a:rPr lang="en-US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Mencari ruang pembatas (</a:t>
            </a:r>
            <a:r>
              <a:rPr i="1" lang="en-US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hyperplane</a:t>
            </a:r>
            <a:r>
              <a:rPr lang="en-US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) optimal antar-kelas. Sangat efisien untuk klasifikasi teks berdimensi tinggi.</a:t>
            </a:r>
            <a:endParaRPr sz="2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"/>
              <a:buAutoNum type="arabicPeriod"/>
            </a:pPr>
            <a:r>
              <a:rPr b="1" lang="en-US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Random Forest:</a:t>
            </a:r>
            <a:r>
              <a:rPr lang="en-US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Metode ensemble yang menggabungkan prediksi dari banyak </a:t>
            </a:r>
            <a:r>
              <a:rPr i="1" lang="en-US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Decision Trees</a:t>
            </a:r>
            <a:r>
              <a:rPr lang="en-US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. Tangguh terhadap gejala overfitting data.</a:t>
            </a:r>
            <a:endParaRPr sz="2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"/>
              <a:buAutoNum type="arabicPeriod"/>
            </a:pPr>
            <a:r>
              <a:rPr b="1" lang="en-US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Multinomial Naive Bayes:</a:t>
            </a:r>
            <a:r>
              <a:rPr lang="en-US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Pengklasifikasi probabilistik bersyarat berlandaskan Teorema Bayes. Algoritma klasik standar industri yang andal untuk pemfilteran teks dokumen.</a:t>
            </a:r>
            <a:endParaRPr sz="2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g3ec6303fe4b_0_61"/>
          <p:cNvSpPr txBox="1"/>
          <p:nvPr/>
        </p:nvSpPr>
        <p:spPr>
          <a:xfrm>
            <a:off x="1028700" y="627452"/>
            <a:ext cx="162306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65">
                <a:solidFill>
                  <a:srgbClr val="348BFF"/>
                </a:solidFill>
              </a:rPr>
              <a:t>DETAIL ARSITEKTUR 4 MODEL ALGORITMA </a:t>
            </a:r>
            <a:endParaRPr sz="400"/>
          </a:p>
        </p:txBody>
      </p:sp>
      <p:pic>
        <p:nvPicPr>
          <p:cNvPr id="160" name="Google Shape;160;g3ec6303fe4b_0_61"/>
          <p:cNvPicPr preferRelativeResize="0"/>
          <p:nvPr/>
        </p:nvPicPr>
        <p:blipFill rotWithShape="1">
          <a:blip r:embed="rId5">
            <a:alphaModFix/>
          </a:blip>
          <a:srcRect b="6787" l="14859" r="54805" t="15295"/>
          <a:stretch/>
        </p:blipFill>
        <p:spPr>
          <a:xfrm>
            <a:off x="11590750" y="1836892"/>
            <a:ext cx="5259575" cy="759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c6303fe4b_0_7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6" name="Google Shape;166;g3ec6303fe4b_0_78"/>
          <p:cNvGrpSpPr/>
          <p:nvPr/>
        </p:nvGrpSpPr>
        <p:grpSpPr>
          <a:xfrm>
            <a:off x="0" y="-144662"/>
            <a:ext cx="18288118" cy="10254257"/>
            <a:chOff x="0" y="-38100"/>
            <a:chExt cx="4816592" cy="2700692"/>
          </a:xfrm>
        </p:grpSpPr>
        <p:sp>
          <p:nvSpPr>
            <p:cNvPr id="167" name="Google Shape;167;g3ec6303fe4b_0_78"/>
            <p:cNvSpPr/>
            <p:nvPr/>
          </p:nvSpPr>
          <p:spPr>
            <a:xfrm>
              <a:off x="0" y="0"/>
              <a:ext cx="4816592" cy="2662592"/>
            </a:xfrm>
            <a:custGeom>
              <a:rect b="b" l="l" r="r" t="t"/>
              <a:pathLst>
                <a:path extrusionOk="0" h="266259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0"/>
              </a:srgbClr>
            </a:solidFill>
            <a:ln cap="sq" cmpd="sng" w="123825">
              <a:solidFill>
                <a:srgbClr val="000000">
                  <a:alpha val="6980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68" name="Google Shape;168;g3ec6303fe4b_0_78"/>
            <p:cNvSpPr txBox="1"/>
            <p:nvPr/>
          </p:nvSpPr>
          <p:spPr>
            <a:xfrm>
              <a:off x="0" y="-38100"/>
              <a:ext cx="4816500" cy="27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g3ec6303fe4b_0_78"/>
          <p:cNvSpPr/>
          <p:nvPr/>
        </p:nvSpPr>
        <p:spPr>
          <a:xfrm rot="8594">
            <a:off x="-724919" y="8954462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g3ec6303fe4b_0_78"/>
          <p:cNvSpPr/>
          <p:nvPr/>
        </p:nvSpPr>
        <p:spPr>
          <a:xfrm rot="8594">
            <a:off x="16611894" y="-935737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g3ec6303fe4b_0_78"/>
          <p:cNvSpPr txBox="1"/>
          <p:nvPr/>
        </p:nvSpPr>
        <p:spPr>
          <a:xfrm>
            <a:off x="1028700" y="2424375"/>
            <a:ext cx="16384200" cy="75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Pemisahan Data Set:</a:t>
            </a:r>
            <a:endParaRPr sz="2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Proporsi pembagian data dikonfigurasi sebesar </a:t>
            </a:r>
            <a:r>
              <a:rPr b="1" lang="en-U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80% Training Set</a:t>
            </a:r>
            <a:r>
              <a:rPr lang="en-U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dan </a:t>
            </a:r>
            <a:r>
              <a:rPr b="1" lang="en-U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20% Testing Set</a:t>
            </a:r>
            <a:r>
              <a:rPr lang="en-U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menggunakan teknik </a:t>
            </a:r>
            <a:r>
              <a:rPr i="1" lang="en-U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Stratified Split</a:t>
            </a:r>
            <a:r>
              <a:rPr lang="en-U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untuk menjaga rasio keseimbangan label target.</a:t>
            </a:r>
            <a:endParaRPr sz="2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Automasi Pipeline:</a:t>
            </a:r>
            <a:r>
              <a:rPr lang="en-U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Menyatukan ekstraktor TF-IDF dan algoritma model dalam satu alur eksekusi Pipeline.</a:t>
            </a:r>
            <a:endParaRPr sz="2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Hyperparameter Tuning:</a:t>
            </a:r>
            <a:r>
              <a:rPr lang="en-U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Optimasi kombinasi parameter terbaik secara otomatis mengandalkan objek </a:t>
            </a:r>
            <a:r>
              <a:rPr b="1" lang="en-U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GridSearchCV</a:t>
            </a:r>
            <a:r>
              <a:rPr lang="en-U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dipadukan dengan </a:t>
            </a:r>
            <a:r>
              <a:rPr b="1" lang="en-U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5-Fold Cross-Validation</a:t>
            </a:r>
            <a:r>
              <a:rPr lang="en-U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Serialisasi Model:</a:t>
            </a:r>
            <a:r>
              <a:rPr lang="en-U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Hasil akhir model yang telah dilatih diekspor menjadi berkas biner .joblib ke dalam direktori models/.</a:t>
            </a:r>
            <a:endParaRPr sz="2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g3ec6303fe4b_0_78"/>
          <p:cNvSpPr txBox="1"/>
          <p:nvPr/>
        </p:nvSpPr>
        <p:spPr>
          <a:xfrm>
            <a:off x="1028700" y="627452"/>
            <a:ext cx="16230600" cy="15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65">
                <a:solidFill>
                  <a:srgbClr val="348BFF"/>
                </a:solidFill>
              </a:rPr>
              <a:t>ALUR PROSES PELATIHAN</a:t>
            </a:r>
            <a:endParaRPr sz="5465">
              <a:solidFill>
                <a:srgbClr val="348B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65">
                <a:solidFill>
                  <a:srgbClr val="348BFF"/>
                </a:solidFill>
              </a:rPr>
              <a:t>(TRAINING &amp; TUNING) </a:t>
            </a:r>
            <a:endParaRPr sz="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c6303fe4b_0_9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8" name="Google Shape;178;g3ec6303fe4b_0_93"/>
          <p:cNvGrpSpPr/>
          <p:nvPr/>
        </p:nvGrpSpPr>
        <p:grpSpPr>
          <a:xfrm>
            <a:off x="0" y="-144662"/>
            <a:ext cx="18288118" cy="10254257"/>
            <a:chOff x="0" y="-38100"/>
            <a:chExt cx="4816592" cy="2700692"/>
          </a:xfrm>
        </p:grpSpPr>
        <p:sp>
          <p:nvSpPr>
            <p:cNvPr id="179" name="Google Shape;179;g3ec6303fe4b_0_93"/>
            <p:cNvSpPr/>
            <p:nvPr/>
          </p:nvSpPr>
          <p:spPr>
            <a:xfrm>
              <a:off x="0" y="0"/>
              <a:ext cx="4816592" cy="2662592"/>
            </a:xfrm>
            <a:custGeom>
              <a:rect b="b" l="l" r="r" t="t"/>
              <a:pathLst>
                <a:path extrusionOk="0" h="266259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0"/>
              </a:srgbClr>
            </a:solidFill>
            <a:ln cap="sq" cmpd="sng" w="123825">
              <a:solidFill>
                <a:srgbClr val="000000">
                  <a:alpha val="6980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80" name="Google Shape;180;g3ec6303fe4b_0_93"/>
            <p:cNvSpPr txBox="1"/>
            <p:nvPr/>
          </p:nvSpPr>
          <p:spPr>
            <a:xfrm>
              <a:off x="0" y="-38100"/>
              <a:ext cx="4816500" cy="27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chemeClr val="dk1"/>
                  </a:solidFill>
                </a:rPr>
                <a:t>Analisis Temuan Utama:</a:t>
              </a:r>
              <a:r>
                <a:rPr lang="en-US" sz="1100">
                  <a:solidFill>
                    <a:schemeClr val="dk1"/>
                  </a:solidFill>
                </a:rPr>
                <a:t> Algoritma SVM dan Naive Bayes mencapai performa akurasi tertinggi (~98%). Nilai </a:t>
              </a:r>
              <a:r>
                <a:rPr i="1" lang="en-US" sz="1100">
                  <a:solidFill>
                    <a:schemeClr val="dk1"/>
                  </a:solidFill>
                </a:rPr>
                <a:t>Precision</a:t>
              </a:r>
              <a:r>
                <a:rPr lang="en-US" sz="1100">
                  <a:solidFill>
                    <a:schemeClr val="dk1"/>
                  </a:solidFill>
                </a:rPr>
                <a:t> spam dari semua model melampaui angka &gt;95%, yang artinya aplikasi ini sangat andal dalam meminimalisir kesalahan pemblokiran terhadap pesan penting pengguna (</a:t>
              </a:r>
              <a:r>
                <a:rPr i="1" lang="en-US" sz="1100">
                  <a:solidFill>
                    <a:schemeClr val="dk1"/>
                  </a:solidFill>
                </a:rPr>
                <a:t>False Positive</a:t>
              </a:r>
              <a:r>
                <a:rPr lang="en-US" sz="1100">
                  <a:solidFill>
                    <a:schemeClr val="dk1"/>
                  </a:solidFill>
                </a:rPr>
                <a:t>). </a:t>
              </a:r>
              <a:endParaRPr/>
            </a:p>
          </p:txBody>
        </p:sp>
      </p:grpSp>
      <p:sp>
        <p:nvSpPr>
          <p:cNvPr id="181" name="Google Shape;181;g3ec6303fe4b_0_93"/>
          <p:cNvSpPr/>
          <p:nvPr/>
        </p:nvSpPr>
        <p:spPr>
          <a:xfrm rot="8594">
            <a:off x="-724919" y="8954462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g3ec6303fe4b_0_93"/>
          <p:cNvSpPr/>
          <p:nvPr/>
        </p:nvSpPr>
        <p:spPr>
          <a:xfrm rot="8594">
            <a:off x="16611894" y="-935737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g3ec6303fe4b_0_93"/>
          <p:cNvSpPr txBox="1"/>
          <p:nvPr/>
        </p:nvSpPr>
        <p:spPr>
          <a:xfrm>
            <a:off x="1028700" y="2692270"/>
            <a:ext cx="6740100" cy="6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Tabel Hasil Pengujian Evaluasi: </a:t>
            </a:r>
            <a:endParaRPr b="1" sz="3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Analisis Temuan Utama:</a:t>
            </a:r>
            <a:endParaRPr sz="3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Algoritma SVM dan Naive Bayes mencapai performa akurasi tertinggi (~98%). Nilai </a:t>
            </a:r>
            <a:r>
              <a:rPr i="1" lang="en-U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Precision</a:t>
            </a:r>
            <a:r>
              <a:rPr lang="en-U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spam dari semua model melampaui angka &gt;95%, yang artinya aplikasi ini sangat andal dalam meminimalisir kesalahan pemblokiran terhadap pesan penting pengguna (</a:t>
            </a:r>
            <a:r>
              <a:rPr i="1" lang="en-U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False Positive</a:t>
            </a:r>
            <a:r>
              <a:rPr lang="en-US" sz="2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). </a:t>
            </a:r>
            <a:endParaRPr sz="2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g3ec6303fe4b_0_93"/>
          <p:cNvSpPr txBox="1"/>
          <p:nvPr/>
        </p:nvSpPr>
        <p:spPr>
          <a:xfrm>
            <a:off x="1028700" y="627452"/>
            <a:ext cx="162306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65">
                <a:solidFill>
                  <a:srgbClr val="348BFF"/>
                </a:solidFill>
              </a:rPr>
              <a:t>HASIL EVALUASI KOMPARATIF MODEL </a:t>
            </a:r>
            <a:endParaRPr sz="100"/>
          </a:p>
        </p:txBody>
      </p:sp>
      <p:pic>
        <p:nvPicPr>
          <p:cNvPr id="185" name="Google Shape;185;g3ec6303fe4b_0_93"/>
          <p:cNvPicPr preferRelativeResize="0"/>
          <p:nvPr/>
        </p:nvPicPr>
        <p:blipFill rotWithShape="1">
          <a:blip r:embed="rId5">
            <a:alphaModFix/>
          </a:blip>
          <a:srcRect b="27663" l="20492" r="6005" t="40112"/>
          <a:stretch/>
        </p:blipFill>
        <p:spPr>
          <a:xfrm>
            <a:off x="8476075" y="1805877"/>
            <a:ext cx="9563701" cy="235742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ec6303fe4b_0_93"/>
          <p:cNvSpPr txBox="1"/>
          <p:nvPr/>
        </p:nvSpPr>
        <p:spPr>
          <a:xfrm>
            <a:off x="1768075" y="4875600"/>
            <a:ext cx="1299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7" name="Google Shape;187;g3ec6303fe4b_0_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76075" y="4136513"/>
            <a:ext cx="9563701" cy="5541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c6303fe4b_0_1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3" name="Google Shape;193;g3ec6303fe4b_0_116"/>
          <p:cNvGrpSpPr/>
          <p:nvPr/>
        </p:nvGrpSpPr>
        <p:grpSpPr>
          <a:xfrm>
            <a:off x="0" y="-144662"/>
            <a:ext cx="18288118" cy="10254257"/>
            <a:chOff x="0" y="-38100"/>
            <a:chExt cx="4816592" cy="2700692"/>
          </a:xfrm>
        </p:grpSpPr>
        <p:sp>
          <p:nvSpPr>
            <p:cNvPr id="194" name="Google Shape;194;g3ec6303fe4b_0_116"/>
            <p:cNvSpPr/>
            <p:nvPr/>
          </p:nvSpPr>
          <p:spPr>
            <a:xfrm>
              <a:off x="0" y="0"/>
              <a:ext cx="4816592" cy="2662592"/>
            </a:xfrm>
            <a:custGeom>
              <a:rect b="b" l="l" r="r" t="t"/>
              <a:pathLst>
                <a:path extrusionOk="0" h="266259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0"/>
              </a:srgbClr>
            </a:solidFill>
            <a:ln cap="sq" cmpd="sng" w="123825">
              <a:solidFill>
                <a:srgbClr val="000000">
                  <a:alpha val="6980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95" name="Google Shape;195;g3ec6303fe4b_0_116"/>
            <p:cNvSpPr txBox="1"/>
            <p:nvPr/>
          </p:nvSpPr>
          <p:spPr>
            <a:xfrm>
              <a:off x="0" y="-38100"/>
              <a:ext cx="4816500" cy="27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g3ec6303fe4b_0_116"/>
          <p:cNvSpPr/>
          <p:nvPr/>
        </p:nvSpPr>
        <p:spPr>
          <a:xfrm rot="8594">
            <a:off x="-724919" y="8954462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g3ec6303fe4b_0_116"/>
          <p:cNvSpPr/>
          <p:nvPr/>
        </p:nvSpPr>
        <p:spPr>
          <a:xfrm rot="8594">
            <a:off x="16611894" y="-935737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g3ec6303fe4b_0_116"/>
          <p:cNvSpPr txBox="1"/>
          <p:nvPr/>
        </p:nvSpPr>
        <p:spPr>
          <a:xfrm>
            <a:off x="1821650" y="3338225"/>
            <a:ext cx="14787300" cy="3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Deskripsi Halaman Beranda (Dashboard):</a:t>
            </a:r>
            <a:endParaRPr b="1"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oboto"/>
              <a:buChar char="●"/>
            </a:pP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Menampilkan ringkasan data berupa metrik kartu (</a:t>
            </a:r>
            <a:r>
              <a:rPr i="1"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Metric Cards</a:t>
            </a: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) jumlah total pesan, persentase ham, dan persentase spam.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oboto"/>
              <a:buChar char="●"/>
            </a:pP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Menyajikan grafik komparatif ringkas untuk memudahkan pemahaman visual data.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oboto"/>
              <a:buChar char="●"/>
            </a:pP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Menyertakan fitur panduan cepat (</a:t>
            </a:r>
            <a:r>
              <a:rPr i="1"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Quick Start Guide</a:t>
            </a: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) untuk memberikan arahan petunjuk bagi pengguna sistem.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g3ec6303fe4b_0_116"/>
          <p:cNvSpPr txBox="1"/>
          <p:nvPr/>
        </p:nvSpPr>
        <p:spPr>
          <a:xfrm>
            <a:off x="1028700" y="627452"/>
            <a:ext cx="16230600" cy="15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65">
                <a:solidFill>
                  <a:srgbClr val="348BFF"/>
                </a:solidFill>
              </a:rPr>
              <a:t>WEB UI</a:t>
            </a:r>
            <a:endParaRPr sz="5465">
              <a:solidFill>
                <a:srgbClr val="348B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65">
                <a:solidFill>
                  <a:srgbClr val="348BFF"/>
                </a:solidFill>
              </a:rPr>
              <a:t>FITUR INTERAKTIF DASHBOARD UTAMA </a:t>
            </a:r>
            <a:endParaRPr sz="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c6303fe4b_0_13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5" name="Google Shape;205;g3ec6303fe4b_0_130"/>
          <p:cNvGrpSpPr/>
          <p:nvPr/>
        </p:nvGrpSpPr>
        <p:grpSpPr>
          <a:xfrm>
            <a:off x="0" y="-144662"/>
            <a:ext cx="18288118" cy="10254257"/>
            <a:chOff x="0" y="-38100"/>
            <a:chExt cx="4816592" cy="2700692"/>
          </a:xfrm>
        </p:grpSpPr>
        <p:sp>
          <p:nvSpPr>
            <p:cNvPr id="206" name="Google Shape;206;g3ec6303fe4b_0_130"/>
            <p:cNvSpPr/>
            <p:nvPr/>
          </p:nvSpPr>
          <p:spPr>
            <a:xfrm>
              <a:off x="0" y="0"/>
              <a:ext cx="4816592" cy="2662592"/>
            </a:xfrm>
            <a:custGeom>
              <a:rect b="b" l="l" r="r" t="t"/>
              <a:pathLst>
                <a:path extrusionOk="0" h="266259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0"/>
              </a:srgbClr>
            </a:solidFill>
            <a:ln cap="sq" cmpd="sng" w="123825">
              <a:solidFill>
                <a:srgbClr val="000000">
                  <a:alpha val="6980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07" name="Google Shape;207;g3ec6303fe4b_0_130"/>
            <p:cNvSpPr txBox="1"/>
            <p:nvPr/>
          </p:nvSpPr>
          <p:spPr>
            <a:xfrm>
              <a:off x="0" y="-38100"/>
              <a:ext cx="4816500" cy="27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g3ec6303fe4b_0_130"/>
          <p:cNvSpPr/>
          <p:nvPr/>
        </p:nvSpPr>
        <p:spPr>
          <a:xfrm rot="8594">
            <a:off x="-724919" y="8954462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g3ec6303fe4b_0_130"/>
          <p:cNvSpPr/>
          <p:nvPr/>
        </p:nvSpPr>
        <p:spPr>
          <a:xfrm rot="8594">
            <a:off x="16611894" y="-935737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10" name="Google Shape;210;g3ec6303fe4b_0_130"/>
          <p:cNvPicPr preferRelativeResize="0"/>
          <p:nvPr/>
        </p:nvPicPr>
        <p:blipFill rotWithShape="1">
          <a:blip r:embed="rId5">
            <a:alphaModFix/>
          </a:blip>
          <a:srcRect b="7152" l="0" r="0" t="17405"/>
          <a:stretch/>
        </p:blipFill>
        <p:spPr>
          <a:xfrm>
            <a:off x="204150" y="802372"/>
            <a:ext cx="9064875" cy="38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ec6303fe4b_0_130"/>
          <p:cNvPicPr preferRelativeResize="0"/>
          <p:nvPr/>
        </p:nvPicPr>
        <p:blipFill rotWithShape="1">
          <a:blip r:embed="rId6">
            <a:alphaModFix/>
          </a:blip>
          <a:srcRect b="6786" l="0" r="0" t="15211"/>
          <a:stretch/>
        </p:blipFill>
        <p:spPr>
          <a:xfrm>
            <a:off x="9281746" y="802372"/>
            <a:ext cx="8767053" cy="38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ec6303fe4b_0_130"/>
          <p:cNvPicPr preferRelativeResize="0"/>
          <p:nvPr/>
        </p:nvPicPr>
        <p:blipFill rotWithShape="1">
          <a:blip r:embed="rId7">
            <a:alphaModFix/>
          </a:blip>
          <a:srcRect b="8140" l="0" r="0" t="20083"/>
          <a:stretch/>
        </p:blipFill>
        <p:spPr>
          <a:xfrm>
            <a:off x="3578523" y="4647172"/>
            <a:ext cx="11131076" cy="449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c6303fe4b_0_15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8" name="Google Shape;218;g3ec6303fe4b_0_155"/>
          <p:cNvGrpSpPr/>
          <p:nvPr/>
        </p:nvGrpSpPr>
        <p:grpSpPr>
          <a:xfrm>
            <a:off x="0" y="-144662"/>
            <a:ext cx="18288118" cy="10254257"/>
            <a:chOff x="0" y="-38100"/>
            <a:chExt cx="4816592" cy="2700692"/>
          </a:xfrm>
        </p:grpSpPr>
        <p:sp>
          <p:nvSpPr>
            <p:cNvPr id="219" name="Google Shape;219;g3ec6303fe4b_0_155"/>
            <p:cNvSpPr/>
            <p:nvPr/>
          </p:nvSpPr>
          <p:spPr>
            <a:xfrm>
              <a:off x="0" y="0"/>
              <a:ext cx="4816592" cy="2662592"/>
            </a:xfrm>
            <a:custGeom>
              <a:rect b="b" l="l" r="r" t="t"/>
              <a:pathLst>
                <a:path extrusionOk="0" h="266259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0"/>
              </a:srgbClr>
            </a:solidFill>
            <a:ln cap="sq" cmpd="sng" w="123825">
              <a:solidFill>
                <a:srgbClr val="000000">
                  <a:alpha val="6980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20" name="Google Shape;220;g3ec6303fe4b_0_155"/>
            <p:cNvSpPr txBox="1"/>
            <p:nvPr/>
          </p:nvSpPr>
          <p:spPr>
            <a:xfrm>
              <a:off x="0" y="-38100"/>
              <a:ext cx="4816500" cy="27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1" name="Google Shape;221;g3ec6303fe4b_0_155"/>
          <p:cNvSpPr/>
          <p:nvPr/>
        </p:nvSpPr>
        <p:spPr>
          <a:xfrm rot="8594">
            <a:off x="-724919" y="8954462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g3ec6303fe4b_0_155"/>
          <p:cNvSpPr/>
          <p:nvPr/>
        </p:nvSpPr>
        <p:spPr>
          <a:xfrm rot="8594">
            <a:off x="16611894" y="-935737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g3ec6303fe4b_0_155"/>
          <p:cNvSpPr txBox="1"/>
          <p:nvPr/>
        </p:nvSpPr>
        <p:spPr>
          <a:xfrm>
            <a:off x="1821650" y="2963178"/>
            <a:ext cx="14787300" cy="57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Mekanisme Pengujian Pesan Tunggal: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oboto"/>
              <a:buChar char="●"/>
            </a:pP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Menyediakan komponen kotak input teks (</a:t>
            </a:r>
            <a:r>
              <a:rPr i="1"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Text Area</a:t>
            </a: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) multi-baris yang responsif.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oboto"/>
              <a:buChar char="●"/>
            </a:pP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Menyediakan tombol instan (</a:t>
            </a:r>
            <a:r>
              <a:rPr i="1"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Quick Template Buttons</a:t>
            </a: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) untuk mensimulasikan contoh pesan spam dan ham secara cepat.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Kecocokan Fitur dengan Karakteristik Paper (Mini XAI):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Aplikasi ini mengimplementasikan fungsi khusus get_spam_indicators(text).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Fitur ini mendeteksi kata pemicu sensitif promosi (seperti: </a:t>
            </a:r>
            <a:r>
              <a:rPr i="1"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free, win, claim, prize</a:t>
            </a: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) serta deteksi otomatis digit nomor telepon atau tautan URL. Fitur ini mengadopsi pilar utama paper rujukan saya mengenai Explainability Analysis (Transparansi Model).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g3ec6303fe4b_0_155"/>
          <p:cNvSpPr txBox="1"/>
          <p:nvPr/>
        </p:nvSpPr>
        <p:spPr>
          <a:xfrm>
            <a:off x="1028700" y="627452"/>
            <a:ext cx="16230600" cy="15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65">
                <a:solidFill>
                  <a:srgbClr val="348BFF"/>
                </a:solidFill>
              </a:rPr>
              <a:t>WEB UI</a:t>
            </a:r>
            <a:endParaRPr sz="5465">
              <a:solidFill>
                <a:srgbClr val="348B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65">
                <a:solidFill>
                  <a:srgbClr val="348BFF"/>
                </a:solidFill>
              </a:rPr>
              <a:t>FITUR DETEKSI INTERAKTIF (SINGLE PREDICTION) </a:t>
            </a:r>
            <a:endParaRPr sz="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c6303fe4b_0_16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0" name="Google Shape;230;g3ec6303fe4b_0_168"/>
          <p:cNvGrpSpPr/>
          <p:nvPr/>
        </p:nvGrpSpPr>
        <p:grpSpPr>
          <a:xfrm>
            <a:off x="0" y="-144662"/>
            <a:ext cx="18288118" cy="10254257"/>
            <a:chOff x="0" y="-38100"/>
            <a:chExt cx="4816592" cy="2700692"/>
          </a:xfrm>
        </p:grpSpPr>
        <p:sp>
          <p:nvSpPr>
            <p:cNvPr id="231" name="Google Shape;231;g3ec6303fe4b_0_168"/>
            <p:cNvSpPr/>
            <p:nvPr/>
          </p:nvSpPr>
          <p:spPr>
            <a:xfrm>
              <a:off x="0" y="0"/>
              <a:ext cx="4816592" cy="2662592"/>
            </a:xfrm>
            <a:custGeom>
              <a:rect b="b" l="l" r="r" t="t"/>
              <a:pathLst>
                <a:path extrusionOk="0" h="266259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0"/>
              </a:srgbClr>
            </a:solidFill>
            <a:ln cap="sq" cmpd="sng" w="123825">
              <a:solidFill>
                <a:srgbClr val="000000">
                  <a:alpha val="6980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32" name="Google Shape;232;g3ec6303fe4b_0_168"/>
            <p:cNvSpPr txBox="1"/>
            <p:nvPr/>
          </p:nvSpPr>
          <p:spPr>
            <a:xfrm>
              <a:off x="0" y="-38100"/>
              <a:ext cx="4816500" cy="27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g3ec6303fe4b_0_168"/>
          <p:cNvSpPr/>
          <p:nvPr/>
        </p:nvSpPr>
        <p:spPr>
          <a:xfrm rot="8594">
            <a:off x="-724919" y="8954462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g3ec6303fe4b_0_168"/>
          <p:cNvSpPr/>
          <p:nvPr/>
        </p:nvSpPr>
        <p:spPr>
          <a:xfrm rot="8594">
            <a:off x="16611894" y="-935737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35" name="Google Shape;235;g3ec6303fe4b_0_168"/>
          <p:cNvPicPr preferRelativeResize="0"/>
          <p:nvPr/>
        </p:nvPicPr>
        <p:blipFill rotWithShape="1">
          <a:blip r:embed="rId5">
            <a:alphaModFix/>
          </a:blip>
          <a:srcRect b="5411" l="0" r="0" t="17405"/>
          <a:stretch/>
        </p:blipFill>
        <p:spPr>
          <a:xfrm>
            <a:off x="484858" y="1288500"/>
            <a:ext cx="8554377" cy="371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g3ec6303fe4b_0_168"/>
          <p:cNvPicPr preferRelativeResize="0"/>
          <p:nvPr/>
        </p:nvPicPr>
        <p:blipFill rotWithShape="1">
          <a:blip r:embed="rId6">
            <a:alphaModFix/>
          </a:blip>
          <a:srcRect b="5596" l="0" r="0" t="17427"/>
          <a:stretch/>
        </p:blipFill>
        <p:spPr>
          <a:xfrm>
            <a:off x="472133" y="4994200"/>
            <a:ext cx="8554374" cy="3702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g3ec6303fe4b_0_168"/>
          <p:cNvPicPr preferRelativeResize="0"/>
          <p:nvPr/>
        </p:nvPicPr>
        <p:blipFill rotWithShape="1">
          <a:blip r:embed="rId7">
            <a:alphaModFix/>
          </a:blip>
          <a:srcRect b="5528" l="0" r="0" t="16499"/>
          <a:stretch/>
        </p:blipFill>
        <p:spPr>
          <a:xfrm>
            <a:off x="9331392" y="1334992"/>
            <a:ext cx="8467475" cy="371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3ec6303fe4b_0_168"/>
          <p:cNvPicPr preferRelativeResize="0"/>
          <p:nvPr/>
        </p:nvPicPr>
        <p:blipFill rotWithShape="1">
          <a:blip r:embed="rId8">
            <a:alphaModFix/>
          </a:blip>
          <a:srcRect b="7204" l="0" r="0" t="17205"/>
          <a:stretch/>
        </p:blipFill>
        <p:spPr>
          <a:xfrm>
            <a:off x="9331392" y="5047117"/>
            <a:ext cx="8467475" cy="3598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c6303fe4b_0_18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4" name="Google Shape;244;g3ec6303fe4b_0_184"/>
          <p:cNvGrpSpPr/>
          <p:nvPr/>
        </p:nvGrpSpPr>
        <p:grpSpPr>
          <a:xfrm>
            <a:off x="0" y="-144662"/>
            <a:ext cx="18288118" cy="10254257"/>
            <a:chOff x="0" y="-38100"/>
            <a:chExt cx="4816592" cy="2700692"/>
          </a:xfrm>
        </p:grpSpPr>
        <p:sp>
          <p:nvSpPr>
            <p:cNvPr id="245" name="Google Shape;245;g3ec6303fe4b_0_184"/>
            <p:cNvSpPr/>
            <p:nvPr/>
          </p:nvSpPr>
          <p:spPr>
            <a:xfrm>
              <a:off x="0" y="0"/>
              <a:ext cx="4816592" cy="2662592"/>
            </a:xfrm>
            <a:custGeom>
              <a:rect b="b" l="l" r="r" t="t"/>
              <a:pathLst>
                <a:path extrusionOk="0" h="266259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0"/>
              </a:srgbClr>
            </a:solidFill>
            <a:ln cap="sq" cmpd="sng" w="123825">
              <a:solidFill>
                <a:srgbClr val="000000">
                  <a:alpha val="6980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46" name="Google Shape;246;g3ec6303fe4b_0_184"/>
            <p:cNvSpPr txBox="1"/>
            <p:nvPr/>
          </p:nvSpPr>
          <p:spPr>
            <a:xfrm>
              <a:off x="0" y="-38100"/>
              <a:ext cx="4816500" cy="27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g3ec6303fe4b_0_184"/>
          <p:cNvSpPr/>
          <p:nvPr/>
        </p:nvSpPr>
        <p:spPr>
          <a:xfrm rot="8594">
            <a:off x="-724919" y="8954462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8" name="Google Shape;248;g3ec6303fe4b_0_184"/>
          <p:cNvSpPr/>
          <p:nvPr/>
        </p:nvSpPr>
        <p:spPr>
          <a:xfrm rot="8594">
            <a:off x="16611894" y="-935737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g3ec6303fe4b_0_184"/>
          <p:cNvSpPr txBox="1"/>
          <p:nvPr/>
        </p:nvSpPr>
        <p:spPr>
          <a:xfrm>
            <a:off x="1821650" y="3201303"/>
            <a:ext cx="14787300" cy="38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Komponen Detak Evaluasi di Browser:</a:t>
            </a:r>
            <a:endParaRPr b="1"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oboto"/>
              <a:buChar char="●"/>
            </a:pP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Menampilkan tabel ringkasan metrik akurasi komparatif dalam format ketelitian 4 angka desimal.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Menampilkan visualisasi matriks kontingensi (Confusion Matrix Heatmap) interaktif menggunakan library seaborn.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oboto"/>
              <a:buChar char="●"/>
            </a:pP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Visualisasi tersebut membantu mendeteksi sebaran data prediksi benar (</a:t>
            </a:r>
            <a:r>
              <a:rPr i="1"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True Positive/Negative</a:t>
            </a: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) serta sebaran data luput (</a:t>
            </a:r>
            <a:r>
              <a:rPr i="1"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False Positive/Negative</a:t>
            </a: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) secara akurat.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g3ec6303fe4b_0_184"/>
          <p:cNvSpPr txBox="1"/>
          <p:nvPr/>
        </p:nvSpPr>
        <p:spPr>
          <a:xfrm>
            <a:off x="1028700" y="627452"/>
            <a:ext cx="16230600" cy="15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65">
                <a:solidFill>
                  <a:srgbClr val="348BFF"/>
                </a:solidFill>
              </a:rPr>
              <a:t>WEB UI</a:t>
            </a:r>
            <a:endParaRPr sz="5465">
              <a:solidFill>
                <a:srgbClr val="348B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65">
                <a:solidFill>
                  <a:srgbClr val="348BFF"/>
                </a:solidFill>
              </a:rPr>
              <a:t>FITUR DIAGNOSTIK MODEL PERFORMANCE </a:t>
            </a:r>
            <a:r>
              <a:rPr lang="en-US" sz="4565">
                <a:solidFill>
                  <a:srgbClr val="348BFF"/>
                </a:solidFill>
              </a:rPr>
              <a:t> </a:t>
            </a:r>
            <a:endParaRPr sz="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c6303fe4b_0_19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6" name="Google Shape;256;g3ec6303fe4b_0_197"/>
          <p:cNvGrpSpPr/>
          <p:nvPr/>
        </p:nvGrpSpPr>
        <p:grpSpPr>
          <a:xfrm>
            <a:off x="0" y="-144662"/>
            <a:ext cx="18288118" cy="10254257"/>
            <a:chOff x="0" y="-38100"/>
            <a:chExt cx="4816592" cy="2700692"/>
          </a:xfrm>
        </p:grpSpPr>
        <p:sp>
          <p:nvSpPr>
            <p:cNvPr id="257" name="Google Shape;257;g3ec6303fe4b_0_197"/>
            <p:cNvSpPr/>
            <p:nvPr/>
          </p:nvSpPr>
          <p:spPr>
            <a:xfrm>
              <a:off x="0" y="0"/>
              <a:ext cx="4816592" cy="2662592"/>
            </a:xfrm>
            <a:custGeom>
              <a:rect b="b" l="l" r="r" t="t"/>
              <a:pathLst>
                <a:path extrusionOk="0" h="266259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0"/>
              </a:srgbClr>
            </a:solidFill>
            <a:ln cap="sq" cmpd="sng" w="123825">
              <a:solidFill>
                <a:srgbClr val="000000">
                  <a:alpha val="6980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58" name="Google Shape;258;g3ec6303fe4b_0_197"/>
            <p:cNvSpPr txBox="1"/>
            <p:nvPr/>
          </p:nvSpPr>
          <p:spPr>
            <a:xfrm>
              <a:off x="0" y="-38100"/>
              <a:ext cx="4816500" cy="27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9" name="Google Shape;259;g3ec6303fe4b_0_197"/>
          <p:cNvSpPr/>
          <p:nvPr/>
        </p:nvSpPr>
        <p:spPr>
          <a:xfrm rot="8594">
            <a:off x="-724919" y="8954462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0" name="Google Shape;260;g3ec6303fe4b_0_197"/>
          <p:cNvSpPr/>
          <p:nvPr/>
        </p:nvSpPr>
        <p:spPr>
          <a:xfrm rot="8594">
            <a:off x="16611894" y="-935737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61" name="Google Shape;261;g3ec6303fe4b_0_197"/>
          <p:cNvPicPr preferRelativeResize="0"/>
          <p:nvPr/>
        </p:nvPicPr>
        <p:blipFill rotWithShape="1">
          <a:blip r:embed="rId5">
            <a:alphaModFix/>
          </a:blip>
          <a:srcRect b="6014" l="0" r="0" t="16587"/>
          <a:stretch/>
        </p:blipFill>
        <p:spPr>
          <a:xfrm>
            <a:off x="468825" y="1428750"/>
            <a:ext cx="8685749" cy="377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3ec6303fe4b_0_197"/>
          <p:cNvPicPr preferRelativeResize="0"/>
          <p:nvPr/>
        </p:nvPicPr>
        <p:blipFill rotWithShape="1">
          <a:blip r:embed="rId6">
            <a:alphaModFix/>
          </a:blip>
          <a:srcRect b="7016" l="0" r="0" t="16302"/>
          <a:stretch/>
        </p:blipFill>
        <p:spPr>
          <a:xfrm>
            <a:off x="9154575" y="1428750"/>
            <a:ext cx="8685749" cy="3744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g3ec6303fe4b_0_197"/>
          <p:cNvPicPr preferRelativeResize="0"/>
          <p:nvPr/>
        </p:nvPicPr>
        <p:blipFill rotWithShape="1">
          <a:blip r:embed="rId7">
            <a:alphaModFix/>
          </a:blip>
          <a:srcRect b="6432" l="0" r="0" t="16162"/>
          <a:stretch/>
        </p:blipFill>
        <p:spPr>
          <a:xfrm>
            <a:off x="468825" y="5199658"/>
            <a:ext cx="8685749" cy="377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g3ec6303fe4b_0_197"/>
          <p:cNvPicPr preferRelativeResize="0"/>
          <p:nvPr/>
        </p:nvPicPr>
        <p:blipFill rotWithShape="1">
          <a:blip r:embed="rId8">
            <a:alphaModFix/>
          </a:blip>
          <a:srcRect b="6122" l="0" r="0" t="15391"/>
          <a:stretch/>
        </p:blipFill>
        <p:spPr>
          <a:xfrm>
            <a:off x="9154575" y="5173200"/>
            <a:ext cx="8685749" cy="383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ec6303fe4b_0_2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0" name="Google Shape;270;g3ec6303fe4b_0_216"/>
          <p:cNvGrpSpPr/>
          <p:nvPr/>
        </p:nvGrpSpPr>
        <p:grpSpPr>
          <a:xfrm>
            <a:off x="0" y="-144662"/>
            <a:ext cx="18288118" cy="10254257"/>
            <a:chOff x="0" y="-38100"/>
            <a:chExt cx="4816592" cy="2700692"/>
          </a:xfrm>
        </p:grpSpPr>
        <p:sp>
          <p:nvSpPr>
            <p:cNvPr id="271" name="Google Shape;271;g3ec6303fe4b_0_216"/>
            <p:cNvSpPr/>
            <p:nvPr/>
          </p:nvSpPr>
          <p:spPr>
            <a:xfrm>
              <a:off x="0" y="0"/>
              <a:ext cx="4816592" cy="2662592"/>
            </a:xfrm>
            <a:custGeom>
              <a:rect b="b" l="l" r="r" t="t"/>
              <a:pathLst>
                <a:path extrusionOk="0" h="266259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0"/>
              </a:srgbClr>
            </a:solidFill>
            <a:ln cap="sq" cmpd="sng" w="123825">
              <a:solidFill>
                <a:srgbClr val="000000">
                  <a:alpha val="6980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72" name="Google Shape;272;g3ec6303fe4b_0_216"/>
            <p:cNvSpPr txBox="1"/>
            <p:nvPr/>
          </p:nvSpPr>
          <p:spPr>
            <a:xfrm>
              <a:off x="0" y="-38100"/>
              <a:ext cx="4816500" cy="27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g3ec6303fe4b_0_216"/>
          <p:cNvSpPr/>
          <p:nvPr/>
        </p:nvSpPr>
        <p:spPr>
          <a:xfrm rot="8594">
            <a:off x="-724919" y="8954462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4" name="Google Shape;274;g3ec6303fe4b_0_216"/>
          <p:cNvSpPr/>
          <p:nvPr/>
        </p:nvSpPr>
        <p:spPr>
          <a:xfrm rot="8594">
            <a:off x="16611894" y="-935737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g3ec6303fe4b_0_216"/>
          <p:cNvSpPr txBox="1"/>
          <p:nvPr/>
        </p:nvSpPr>
        <p:spPr>
          <a:xfrm>
            <a:off x="1821650" y="3201303"/>
            <a:ext cx="14787300" cy="47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Eksplorasi Wawasan Data:</a:t>
            </a:r>
            <a:endParaRPr b="1"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oboto"/>
              <a:buChar char="●"/>
            </a:pP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Menampilkan visualisasi diagram </a:t>
            </a:r>
            <a:r>
              <a:rPr i="1"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Histogram Overlay</a:t>
            </a: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kontras warna untuk melihat distribusi perbedaan panjang karakter antara SMS ham (hijau) dan spam (merah).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Menampilkan </a:t>
            </a:r>
            <a:r>
              <a:rPr b="1"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Word Cloud Generator</a:t>
            </a: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dua kolom berdampingan untuk melihat kata dominan pada masing-masing kelas.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Karakteristik Kata Kunci Populer:</a:t>
            </a:r>
            <a:endParaRPr b="1"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oboto"/>
              <a:buChar char="●"/>
            </a:pPr>
            <a:r>
              <a:rPr i="1"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Word Cloud Ham:</a:t>
            </a: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Dominan kata sehari-hari kasual (</a:t>
            </a:r>
            <a:r>
              <a:rPr i="1"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ok, call, come, time, get</a:t>
            </a: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oboto"/>
              <a:buChar char="●"/>
            </a:pPr>
            <a:r>
              <a:rPr i="1"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Word Cloud Spam:</a:t>
            </a: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Dominan istilah promosi agresif (</a:t>
            </a:r>
            <a:r>
              <a:rPr i="1"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free, claim, urgent, prize, win</a:t>
            </a: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g3ec6303fe4b_0_216"/>
          <p:cNvSpPr txBox="1"/>
          <p:nvPr/>
        </p:nvSpPr>
        <p:spPr>
          <a:xfrm>
            <a:off x="1028700" y="627452"/>
            <a:ext cx="16230600" cy="15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65">
                <a:solidFill>
                  <a:srgbClr val="348BFF"/>
                </a:solidFill>
              </a:rPr>
              <a:t>WEB UI</a:t>
            </a:r>
            <a:endParaRPr sz="5465">
              <a:solidFill>
                <a:srgbClr val="348B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65">
                <a:solidFill>
                  <a:srgbClr val="348BFF"/>
                </a:solidFill>
              </a:rPr>
              <a:t>FITUR DATA ANALYTICS &amp; WORD CLOUD</a:t>
            </a:r>
            <a:endParaRPr sz="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c6303fe4b_0_22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2" name="Google Shape;282;g3ec6303fe4b_0_229"/>
          <p:cNvGrpSpPr/>
          <p:nvPr/>
        </p:nvGrpSpPr>
        <p:grpSpPr>
          <a:xfrm>
            <a:off x="0" y="-144662"/>
            <a:ext cx="18288118" cy="10254257"/>
            <a:chOff x="0" y="-38100"/>
            <a:chExt cx="4816592" cy="2700692"/>
          </a:xfrm>
        </p:grpSpPr>
        <p:sp>
          <p:nvSpPr>
            <p:cNvPr id="283" name="Google Shape;283;g3ec6303fe4b_0_229"/>
            <p:cNvSpPr/>
            <p:nvPr/>
          </p:nvSpPr>
          <p:spPr>
            <a:xfrm>
              <a:off x="0" y="0"/>
              <a:ext cx="4816592" cy="2662592"/>
            </a:xfrm>
            <a:custGeom>
              <a:rect b="b" l="l" r="r" t="t"/>
              <a:pathLst>
                <a:path extrusionOk="0" h="266259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0"/>
              </a:srgbClr>
            </a:solidFill>
            <a:ln cap="sq" cmpd="sng" w="123825">
              <a:solidFill>
                <a:srgbClr val="000000">
                  <a:alpha val="6980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84" name="Google Shape;284;g3ec6303fe4b_0_229"/>
            <p:cNvSpPr txBox="1"/>
            <p:nvPr/>
          </p:nvSpPr>
          <p:spPr>
            <a:xfrm>
              <a:off x="0" y="-38100"/>
              <a:ext cx="4816500" cy="27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" name="Google Shape;285;g3ec6303fe4b_0_229"/>
          <p:cNvSpPr/>
          <p:nvPr/>
        </p:nvSpPr>
        <p:spPr>
          <a:xfrm rot="8594">
            <a:off x="-724919" y="8954462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6" name="Google Shape;286;g3ec6303fe4b_0_229"/>
          <p:cNvSpPr/>
          <p:nvPr/>
        </p:nvSpPr>
        <p:spPr>
          <a:xfrm rot="8594">
            <a:off x="16611894" y="-935737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87" name="Google Shape;287;g3ec6303fe4b_0_2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5043" y="549700"/>
            <a:ext cx="7705176" cy="432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g3ec6303fe4b_0_229"/>
          <p:cNvPicPr preferRelativeResize="0"/>
          <p:nvPr/>
        </p:nvPicPr>
        <p:blipFill rotWithShape="1">
          <a:blip r:embed="rId6">
            <a:alphaModFix/>
          </a:blip>
          <a:srcRect b="18862" l="19726" r="3815" t="17480"/>
          <a:stretch/>
        </p:blipFill>
        <p:spPr>
          <a:xfrm>
            <a:off x="8466675" y="549700"/>
            <a:ext cx="9233952" cy="432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g3ec6303fe4b_0_229"/>
          <p:cNvPicPr preferRelativeResize="0"/>
          <p:nvPr/>
        </p:nvPicPr>
        <p:blipFill rotWithShape="1">
          <a:blip r:embed="rId7">
            <a:alphaModFix/>
          </a:blip>
          <a:srcRect b="16613" l="0" r="0" t="17202"/>
          <a:stretch/>
        </p:blipFill>
        <p:spPr>
          <a:xfrm>
            <a:off x="2638425" y="4871983"/>
            <a:ext cx="13011150" cy="484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ec6303fe4b_0_27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5" name="Google Shape;295;g3ec6303fe4b_0_273"/>
          <p:cNvGrpSpPr/>
          <p:nvPr/>
        </p:nvGrpSpPr>
        <p:grpSpPr>
          <a:xfrm>
            <a:off x="0" y="-144662"/>
            <a:ext cx="18288118" cy="10254257"/>
            <a:chOff x="0" y="-38100"/>
            <a:chExt cx="4816592" cy="2700692"/>
          </a:xfrm>
        </p:grpSpPr>
        <p:sp>
          <p:nvSpPr>
            <p:cNvPr id="296" name="Google Shape;296;g3ec6303fe4b_0_273"/>
            <p:cNvSpPr/>
            <p:nvPr/>
          </p:nvSpPr>
          <p:spPr>
            <a:xfrm>
              <a:off x="0" y="0"/>
              <a:ext cx="4816592" cy="2662592"/>
            </a:xfrm>
            <a:custGeom>
              <a:rect b="b" l="l" r="r" t="t"/>
              <a:pathLst>
                <a:path extrusionOk="0" h="266259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0"/>
              </a:srgbClr>
            </a:solidFill>
            <a:ln cap="sq" cmpd="sng" w="123825">
              <a:solidFill>
                <a:srgbClr val="000000">
                  <a:alpha val="6980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97" name="Google Shape;297;g3ec6303fe4b_0_273"/>
            <p:cNvSpPr txBox="1"/>
            <p:nvPr/>
          </p:nvSpPr>
          <p:spPr>
            <a:xfrm>
              <a:off x="0" y="-38100"/>
              <a:ext cx="4816500" cy="27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8" name="Google Shape;298;g3ec6303fe4b_0_273"/>
          <p:cNvSpPr/>
          <p:nvPr/>
        </p:nvSpPr>
        <p:spPr>
          <a:xfrm rot="8594">
            <a:off x="-724919" y="8954462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9" name="Google Shape;299;g3ec6303fe4b_0_273"/>
          <p:cNvSpPr/>
          <p:nvPr/>
        </p:nvSpPr>
        <p:spPr>
          <a:xfrm rot="8594">
            <a:off x="16611894" y="-935737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0" name="Google Shape;300;g3ec6303fe4b_0_273"/>
          <p:cNvSpPr txBox="1"/>
          <p:nvPr/>
        </p:nvSpPr>
        <p:spPr>
          <a:xfrm>
            <a:off x="1821650" y="2672136"/>
            <a:ext cx="14787300" cy="6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Mekanisme Pemrosesan Skala Besar:</a:t>
            </a:r>
            <a:endParaRPr b="1"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Menyediakan komponen seret-lepas unggahan berkas data (</a:t>
            </a:r>
            <a:r>
              <a:rPr i="1"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File Upload Drag &amp; Drop</a:t>
            </a: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) dalam format dokumen .csv.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Sistem membaca judul header kolom "message" secara otomatis dan memunculkan cuplikan 10 data teratas berkas unggahan (</a:t>
            </a:r>
            <a:r>
              <a:rPr i="1"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Data Preview</a:t>
            </a: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oboto"/>
              <a:buChar char="●"/>
            </a:pP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Pasca-eksekusi, sistem menampilkan kartu rangkuman total kuantitas pesan terdeteksi ham vs spam secara massal.</a:t>
            </a:r>
            <a:endParaRPr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Fitur Ekspor Data:</a:t>
            </a:r>
            <a:r>
              <a:rPr lang="en-US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Dilengkapi dengan tombol unduh untuk mengekspor data prediksi kembali ke penyimpanan komputer lokal pengguna dalam bentuk berkas spam_prediction_results.csv.</a:t>
            </a:r>
            <a:endParaRPr b="1" sz="3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g3ec6303fe4b_0_273"/>
          <p:cNvSpPr txBox="1"/>
          <p:nvPr/>
        </p:nvSpPr>
        <p:spPr>
          <a:xfrm>
            <a:off x="1028700" y="627452"/>
            <a:ext cx="16230600" cy="15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65">
                <a:solidFill>
                  <a:srgbClr val="348BFF"/>
                </a:solidFill>
              </a:rPr>
              <a:t>WEB UI</a:t>
            </a:r>
            <a:endParaRPr sz="5465">
              <a:solidFill>
                <a:srgbClr val="348B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65">
                <a:solidFill>
                  <a:srgbClr val="348BFF"/>
                </a:solidFill>
              </a:rPr>
              <a:t>FITUR PEMROSESAN MASSAL (BATCH PREDICTION)</a:t>
            </a:r>
            <a:endParaRPr sz="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ec6303fe4b_0_26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7" name="Google Shape;307;g3ec6303fe4b_0_260"/>
          <p:cNvSpPr/>
          <p:nvPr/>
        </p:nvSpPr>
        <p:spPr>
          <a:xfrm rot="8594">
            <a:off x="-724919" y="8954462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8" name="Google Shape;308;g3ec6303fe4b_0_260"/>
          <p:cNvSpPr/>
          <p:nvPr/>
        </p:nvSpPr>
        <p:spPr>
          <a:xfrm rot="8594">
            <a:off x="16611894" y="-935737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9" name="Google Shape;309;g3ec6303fe4b_0_260"/>
          <p:cNvGrpSpPr/>
          <p:nvPr/>
        </p:nvGrpSpPr>
        <p:grpSpPr>
          <a:xfrm>
            <a:off x="-62" y="16363"/>
            <a:ext cx="18288118" cy="10254257"/>
            <a:chOff x="0" y="-38100"/>
            <a:chExt cx="4816592" cy="2700692"/>
          </a:xfrm>
        </p:grpSpPr>
        <p:sp>
          <p:nvSpPr>
            <p:cNvPr id="310" name="Google Shape;310;g3ec6303fe4b_0_260"/>
            <p:cNvSpPr/>
            <p:nvPr/>
          </p:nvSpPr>
          <p:spPr>
            <a:xfrm>
              <a:off x="0" y="0"/>
              <a:ext cx="4816592" cy="2662592"/>
            </a:xfrm>
            <a:custGeom>
              <a:rect b="b" l="l" r="r" t="t"/>
              <a:pathLst>
                <a:path extrusionOk="0" h="266259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0"/>
              </a:srgbClr>
            </a:solidFill>
            <a:ln cap="sq" cmpd="sng" w="123825">
              <a:solidFill>
                <a:srgbClr val="000000">
                  <a:alpha val="6980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11" name="Google Shape;311;g3ec6303fe4b_0_260"/>
            <p:cNvSpPr txBox="1"/>
            <p:nvPr/>
          </p:nvSpPr>
          <p:spPr>
            <a:xfrm>
              <a:off x="0" y="-38100"/>
              <a:ext cx="4816500" cy="27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2" name="Google Shape;312;g3ec6303fe4b_0_260"/>
          <p:cNvPicPr preferRelativeResize="0"/>
          <p:nvPr/>
        </p:nvPicPr>
        <p:blipFill rotWithShape="1">
          <a:blip r:embed="rId5">
            <a:alphaModFix/>
          </a:blip>
          <a:srcRect b="6378" l="0" r="0" t="16223"/>
          <a:stretch/>
        </p:blipFill>
        <p:spPr>
          <a:xfrm>
            <a:off x="450138" y="1188450"/>
            <a:ext cx="17387725" cy="756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c6303fe4b_0_29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8" name="Google Shape;318;g3ec6303fe4b_0_297"/>
          <p:cNvGrpSpPr/>
          <p:nvPr/>
        </p:nvGrpSpPr>
        <p:grpSpPr>
          <a:xfrm>
            <a:off x="0" y="-144662"/>
            <a:ext cx="18288118" cy="10254257"/>
            <a:chOff x="0" y="-38100"/>
            <a:chExt cx="4816592" cy="2700692"/>
          </a:xfrm>
        </p:grpSpPr>
        <p:sp>
          <p:nvSpPr>
            <p:cNvPr id="319" name="Google Shape;319;g3ec6303fe4b_0_297"/>
            <p:cNvSpPr/>
            <p:nvPr/>
          </p:nvSpPr>
          <p:spPr>
            <a:xfrm>
              <a:off x="0" y="0"/>
              <a:ext cx="4816592" cy="2662592"/>
            </a:xfrm>
            <a:custGeom>
              <a:rect b="b" l="l" r="r" t="t"/>
              <a:pathLst>
                <a:path extrusionOk="0" h="266259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0"/>
              </a:srgbClr>
            </a:solidFill>
            <a:ln cap="sq" cmpd="sng" w="123825">
              <a:solidFill>
                <a:srgbClr val="000000">
                  <a:alpha val="6980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20" name="Google Shape;320;g3ec6303fe4b_0_297"/>
            <p:cNvSpPr txBox="1"/>
            <p:nvPr/>
          </p:nvSpPr>
          <p:spPr>
            <a:xfrm>
              <a:off x="0" y="-38100"/>
              <a:ext cx="4816500" cy="27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1" name="Google Shape;321;g3ec6303fe4b_0_297"/>
          <p:cNvSpPr/>
          <p:nvPr/>
        </p:nvSpPr>
        <p:spPr>
          <a:xfrm rot="8594">
            <a:off x="-724919" y="8954462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2" name="Google Shape;322;g3ec6303fe4b_0_297"/>
          <p:cNvSpPr/>
          <p:nvPr/>
        </p:nvSpPr>
        <p:spPr>
          <a:xfrm rot="8594">
            <a:off x="16611894" y="-935737"/>
            <a:ext cx="2702697" cy="2579848"/>
          </a:xfrm>
          <a:custGeom>
            <a:rect b="b" l="l" r="r" t="t"/>
            <a:pathLst>
              <a:path extrusionOk="0"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3" name="Google Shape;323;g3ec6303fe4b_0_297"/>
          <p:cNvSpPr txBox="1"/>
          <p:nvPr/>
        </p:nvSpPr>
        <p:spPr>
          <a:xfrm>
            <a:off x="1750413" y="2260286"/>
            <a:ext cx="14787300" cy="59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Kesimpulan Pengembangan Sistem:</a:t>
            </a:r>
            <a:endParaRPr b="1" sz="3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Char char="●"/>
            </a:pPr>
            <a:r>
              <a:rPr lang="en-US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Aplikasi NLP untuk penyaringan teks SMS spam berhasil dibangun secara fungsional menggunakan framework Streamlit lewat pengerjaan mandiri di VS Code.</a:t>
            </a:r>
            <a:endParaRPr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Char char="●"/>
            </a:pPr>
            <a:r>
              <a:rPr lang="en-US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Model pengklasifikasi dengan algoritma SVM dan Naive Bayes menunjukkan efisiensi akurasi terbaik di atas pengujian data teks berdimensi matriks TF-IDF.</a:t>
            </a:r>
            <a:endParaRPr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Char char="●"/>
            </a:pPr>
            <a:r>
              <a:rPr lang="en-US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Fitur visualisasi analisis data (</a:t>
            </a:r>
            <a:r>
              <a:rPr i="1" lang="en-US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Word Cloud, Histogram, Indikator Spam</a:t>
            </a:r>
            <a:r>
              <a:rPr lang="en-US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) mampu memberikan aspek transparansi keterbukaan model fungsional sesuai dengan esensi utama usulan dari paper rujukan ilmiah.</a:t>
            </a:r>
            <a:endParaRPr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g3ec6303fe4b_0_297"/>
          <p:cNvSpPr txBox="1"/>
          <p:nvPr/>
        </p:nvSpPr>
        <p:spPr>
          <a:xfrm>
            <a:off x="1028700" y="627452"/>
            <a:ext cx="162306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65">
                <a:solidFill>
                  <a:srgbClr val="348BFF"/>
                </a:solidFill>
              </a:rPr>
              <a:t>KESIMPULAN</a:t>
            </a:r>
            <a:endParaRPr sz="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0" name="Google Shape;330;p16"/>
          <p:cNvGrpSpPr/>
          <p:nvPr/>
        </p:nvGrpSpPr>
        <p:grpSpPr>
          <a:xfrm>
            <a:off x="1028700" y="884039"/>
            <a:ext cx="16230600" cy="8374261"/>
            <a:chOff x="0" y="-38100"/>
            <a:chExt cx="4274726" cy="2205567"/>
          </a:xfrm>
        </p:grpSpPr>
        <p:sp>
          <p:nvSpPr>
            <p:cNvPr id="331" name="Google Shape;331;p16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69803"/>
              </a:srgbClr>
            </a:solidFill>
            <a:ln cap="sq" cmpd="sng" w="123825">
              <a:solidFill>
                <a:srgbClr val="000000">
                  <a:alpha val="69803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32" name="Google Shape;332;p16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3" name="Google Shape;333;p16"/>
          <p:cNvSpPr/>
          <p:nvPr/>
        </p:nvSpPr>
        <p:spPr>
          <a:xfrm rot="5400000">
            <a:off x="8944306" y="5180427"/>
            <a:ext cx="399388" cy="8135684"/>
          </a:xfrm>
          <a:custGeom>
            <a:rect b="b" l="l" r="r" t="t"/>
            <a:pathLst>
              <a:path extrusionOk="0" h="8135684" w="399388">
                <a:moveTo>
                  <a:pt x="0" y="0"/>
                </a:moveTo>
                <a:lnTo>
                  <a:pt x="399388" y="0"/>
                </a:lnTo>
                <a:lnTo>
                  <a:pt x="399388" y="8135683"/>
                </a:lnTo>
                <a:lnTo>
                  <a:pt x="0" y="81356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5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4" name="Google Shape;334;p16"/>
          <p:cNvSpPr/>
          <p:nvPr/>
        </p:nvSpPr>
        <p:spPr>
          <a:xfrm flipH="1" rot="10800000">
            <a:off x="-895973" y="-128681"/>
            <a:ext cx="3775893" cy="3604261"/>
          </a:xfrm>
          <a:custGeom>
            <a:rect b="b" l="l" r="r" t="t"/>
            <a:pathLst>
              <a:path extrusionOk="0" h="3604261" w="3775893">
                <a:moveTo>
                  <a:pt x="3775893" y="0"/>
                </a:moveTo>
                <a:lnTo>
                  <a:pt x="0" y="0"/>
                </a:lnTo>
                <a:lnTo>
                  <a:pt x="0" y="3604262"/>
                </a:lnTo>
                <a:lnTo>
                  <a:pt x="3775893" y="3604262"/>
                </a:lnTo>
                <a:lnTo>
                  <a:pt x="377589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5" name="Google Shape;335;p16"/>
          <p:cNvSpPr/>
          <p:nvPr/>
        </p:nvSpPr>
        <p:spPr>
          <a:xfrm flipH="1" rot="10800000">
            <a:off x="15576737" y="7107131"/>
            <a:ext cx="3775893" cy="3604261"/>
          </a:xfrm>
          <a:custGeom>
            <a:rect b="b" l="l" r="r" t="t"/>
            <a:pathLst>
              <a:path extrusionOk="0" h="3604261" w="3775893">
                <a:moveTo>
                  <a:pt x="3775893" y="0"/>
                </a:moveTo>
                <a:lnTo>
                  <a:pt x="0" y="0"/>
                </a:lnTo>
                <a:lnTo>
                  <a:pt x="0" y="3604261"/>
                </a:lnTo>
                <a:lnTo>
                  <a:pt x="3775893" y="3604261"/>
                </a:lnTo>
                <a:lnTo>
                  <a:pt x="377589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6" name="Google Shape;336;p16"/>
          <p:cNvSpPr txBox="1"/>
          <p:nvPr/>
        </p:nvSpPr>
        <p:spPr>
          <a:xfrm>
            <a:off x="1756839" y="4198358"/>
            <a:ext cx="14774323" cy="1982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39" u="none" cap="none" strike="noStrike">
                <a:solidFill>
                  <a:srgbClr val="348B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